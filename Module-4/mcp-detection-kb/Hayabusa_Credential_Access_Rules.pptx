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23360" cy="685800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2331720"/>
            <a:ext cx="1371600" cy="13716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/home/claude/pptx_build/icon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4584" y="266090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3172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HAYABUSA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Access Detection Rules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3794760"/>
            <a:ext cx="219456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02336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technique-organized survey of Sigma/Hayabusa detections mapped to MITRE ATT&amp;CK T1003, T1552, T1555, T1558, and related sub-techniques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497 matching rules  ·  346 unique detections  ·  4,961 total ruleset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Credential-access rules matched from Hayabusa's full detection library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B2F3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6479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Rules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620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keyword: credential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B2F3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76479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3756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Detections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8620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deduped by title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76479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Severity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8620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highest-confidence hits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98280" y="16002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B2F3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176479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09828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98280" y="28620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indicators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Distribution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75323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10430" y="4023360"/>
            <a:ext cx="4290137" cy="502920"/>
          </a:xfrm>
          <a:prstGeom prst="rect">
            <a:avLst/>
          </a:prstGeom>
          <a:solidFill>
            <a:srgbClr val="8E2F26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0567" y="4023360"/>
            <a:ext cx="2587182" cy="502920"/>
          </a:xfrm>
          <a:prstGeom prst="rect">
            <a:avLst/>
          </a:prstGeom>
          <a:solidFill>
            <a:srgbClr val="3D434D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87748" y="4023360"/>
            <a:ext cx="360240" cy="502920"/>
          </a:xfrm>
          <a:prstGeom prst="rect">
            <a:avLst/>
          </a:prstGeom>
          <a:solidFill>
            <a:srgbClr val="AEB4BC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7989" y="4023360"/>
            <a:ext cx="147371" cy="502920"/>
          </a:xfrm>
          <a:prstGeom prst="rect">
            <a:avLst/>
          </a:prstGeom>
          <a:solidFill>
            <a:srgbClr val="D8DBD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709160"/>
            <a:ext cx="164592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" y="4645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(46)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48840" y="4709160"/>
            <a:ext cx="164592" cy="164592"/>
          </a:xfrm>
          <a:prstGeom prst="rect">
            <a:avLst/>
          </a:prstGeom>
          <a:solidFill>
            <a:srgbClr val="8E2F26"/>
          </a:solidFill>
          <a:ln/>
        </p:spPr>
      </p:sp>
      <p:sp>
        <p:nvSpPr>
          <p:cNvPr id="29" name="Text 27"/>
          <p:cNvSpPr/>
          <p:nvPr/>
        </p:nvSpPr>
        <p:spPr>
          <a:xfrm>
            <a:off x="2368296" y="4645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(262)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4709160"/>
            <a:ext cx="164592" cy="164592"/>
          </a:xfrm>
          <a:prstGeom prst="rect">
            <a:avLst/>
          </a:prstGeom>
          <a:solidFill>
            <a:srgbClr val="3D434D"/>
          </a:solidFill>
          <a:ln/>
        </p:spPr>
      </p:sp>
      <p:sp>
        <p:nvSpPr>
          <p:cNvPr id="31" name="Text 29"/>
          <p:cNvSpPr/>
          <p:nvPr/>
        </p:nvSpPr>
        <p:spPr>
          <a:xfrm>
            <a:off x="4059936" y="4645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(158)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4709160"/>
            <a:ext cx="164592" cy="164592"/>
          </a:xfrm>
          <a:prstGeom prst="rect">
            <a:avLst/>
          </a:prstGeom>
          <a:solidFill>
            <a:srgbClr val="AEB4BC"/>
          </a:solidFill>
          <a:ln/>
        </p:spPr>
      </p:sp>
      <p:sp>
        <p:nvSpPr>
          <p:cNvPr id="33" name="Text 31"/>
          <p:cNvSpPr/>
          <p:nvPr/>
        </p:nvSpPr>
        <p:spPr>
          <a:xfrm>
            <a:off x="5751576" y="4645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(22)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23760" y="4709160"/>
            <a:ext cx="164592" cy="164592"/>
          </a:xfrm>
          <a:prstGeom prst="rect">
            <a:avLst/>
          </a:prstGeom>
          <a:solidFill>
            <a:srgbClr val="D8DBDF"/>
          </a:solidFill>
          <a:ln/>
        </p:spPr>
      </p:sp>
      <p:sp>
        <p:nvSpPr>
          <p:cNvPr id="35" name="Text 33"/>
          <p:cNvSpPr/>
          <p:nvPr/>
        </p:nvSpPr>
        <p:spPr>
          <a:xfrm>
            <a:off x="7443216" y="4645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(9)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2578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2B2F36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394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maturity: </a:t>
            </a:r>
            <a:pPr indent="0" marL="0"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 test  ·  54 experimental  ·  26 stable  ·  24 deprecated  ·  3 unsupported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" y="5760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rules are in active "test" status — validate against your own environment before promoting to production alerting.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051560" cy="10515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/home/claude/pptx_build/icon_ls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75529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CATEGORY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202996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LSASS Memory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Dumping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3246120"/>
            <a:ext cx="14630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T1003.001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Credential Dumping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LSASS Memory
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4720" y="457200"/>
            <a:ext cx="8257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rule cluster. LSASS holds plaintext passwords, NTLM hashes, and Kerberos tickets in memory — making it the top target for credential theft tooling.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74720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794760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Dumpers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Mimikatz, ProcDump, Pypykatz, SafetyKatz, HandleKatz, Dumpert, XORDump, WCE, Quarks PwDump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40396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77556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060436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LOLBIN Abuse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60436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comsvcs.dll minidump via rundll32, createdump.exe, dbghelp/dbgcore.dll, WerFault(Secure), Taskmgr, AdPlus.exe, sqldumper.exe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0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11880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3794760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Access Patterns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94760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Uncommon GrantedAccess flags, whitelisted-binary abuse (TrolleyExpress.exe), remote LSASS access via WinRM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40396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77556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8060436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Techniques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60436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WSASS, EDR-Freeze, Doppelanger process cloning, MemProcFS memory mounting, PPL bypass via WerFaultSecure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051560" cy="10515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/home/claude/pptx_build/icon_regi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75529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CREDENTIAL STORES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202996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 &amp; SAM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Hive Dumping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3246120"/>
            <a:ext cx="14630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T1003.002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T1003.004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T1003.005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Secrets
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4720" y="457200"/>
            <a:ext cx="8257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extract SAM, SECURITY, and SYSTEM registry hives to recover local account hashes and LSA secrets without ever touching LSASS memory.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74720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794760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Reg.exe Hive Export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Dumping SAM/SYSTEM/SECURITY hives directly via the built-in reg.exe save command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40396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77556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060436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Quarks PwDump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60436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Commandline and dropped-file indicators for the Quarks PwDump SAM extraction tool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0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11880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3794760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Esentutl / NTDS Access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94760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esentutl to gather credentials from dumped NTDS or ESE database files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40396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77556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8060436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HiveNightmare (CVE-2021-36934)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60436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tools exploiting readable SAM shadow-copy permissions to export the SAM database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051560" cy="10515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/home/claude/pptx_build/icon_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75529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DOMAIN-WIDE IMPACT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202996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Directory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NTDS.dit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3246120"/>
            <a:ext cx="14630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T1003.003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T1003.006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DCSync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Shadow Copy
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4720" y="457200"/>
            <a:ext cx="8257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highest-blast-radius category: a stolen NTDS.dit or a successful DCSync yields every credential hash in the domain, not just one host.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74720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794760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Ntdsutil Abuse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of ntdsutil.exe to snapshot, restore, or otherwise access the AD database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40396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77556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060436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Copy Symlinks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60436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Shadow Copy creation and mklink symlinking used to reach a locked ntds.dit file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0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11880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3794760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DCSync (Mimikatz)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94760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requests from non-machine accounts abusing Directory Replication Service rights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40396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77556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8060436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DSInternals Tooling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60436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Get-ADDBAccount / Get-ADReplAccount PowerShell cmdlets reading credentials from ntds.dit offline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051560" cy="10515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/home/claude/pptx_build/icon_kerber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75529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TICKET-BASED ABUSE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202996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Kerberos Attacks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3246120"/>
            <a:ext cx="14630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T1558.003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T1187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Kerberoasting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Silver/Golden Tickets
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4720" y="457200"/>
            <a:ext cx="8257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spanning ticket-granting-ticket abuse, relay attacks, and coercion techniques that trick victims into authenticating to attacker infrastructure.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74720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794760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Rubeus &amp; Relay Tools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Rubeus, KrbRelay, KrbRelayUp, RemoteKrbRelay command-line and PE metadata signatures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40396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77556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060436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Kerberoasting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60436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SPN enumeration via setspn.exe and suspicious service-ticket requests preceding offline cracking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0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11880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3794760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PetitPotam / Coercion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94760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Coerced authentication attempts and suspicious TGT requests following certificate-based coercion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40396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77556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8060436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SPN Spoofing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60436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CVE-2025-33073-style DNS record manipulation to redirect Kerberos authentication (base64 CREDENTIAL_TARGET_INFO pattern)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051560" cy="10515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/home/claude/pptx_build/icon_hack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75529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HACKTOOLS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202996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Dumping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Toolsets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3246120"/>
            <a:ext cx="14630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 (general)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T1552.001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Post-Exploitation Frameworks
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4720" y="457200"/>
            <a:ext cx="8257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detections for well-known, publicly available offensive tools — matched via command-line flags, PE metadata, or dropped-file indicators.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74720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794760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CrackMapExec / NetExec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combinations and process/file patterns that survive binary renaming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40396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77556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060436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Impacket Suite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60436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secretsdump and other compiled Impacket binaries used for remote credential extraction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0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11880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3794760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LaZagne &amp; Hashcat/Hydra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94760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password-store harvesting and brute-force cracking tool executions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40396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77556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8060436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Scanners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60436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 / gitleaks spawned by script interpreters — seen in the Shai-Hulud npm supply-chain campaign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051560" cy="10515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/home/claude/pptx_build/icon_brow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75529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DATA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202996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&amp; App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Theft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3246120"/>
            <a:ext cx="14630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T1555.003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T1528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Stores
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4720" y="457200"/>
            <a:ext cx="8257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targeting the encrypted credential stores maintained by browsers and chat/collaboration apps, plus the debugging interfaces attackers abuse to bypass them.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74720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794760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&amp; Firefox DBs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queries against browser profile databases for saved logins and cookies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40396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77556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060436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WebBrowserPassView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60436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of the multi-browser password-recovery utility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0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11880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3794760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Token Theft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94760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Microsoft Teams database/cookie files from non-Teams processes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40396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77556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8060436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Remote-Debugging Launches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60436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browsers started headless with debugging flags pointed at a real user profile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051560" cy="10515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/home/claude/pptx_build/icon_credgu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75529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PROTECTIONS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202996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Guard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Defense Evasion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3246120"/>
            <a:ext cx="14630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T1112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T1556.002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T1685
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4720" y="457200"/>
            <a:ext cx="8257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dumping credentials, attackers often first weaken the OS protections designed to stop them — these rules catch that setup step.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74720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794760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Guard Tampering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changes to EnableVirtualizationBasedSecurity, LsaCfgFlags, and related VBS keys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40396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77556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060436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WDigest UseLogonCredential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60436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Re-enabling clear-text credential caching by flipping the WDigest registry value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0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11880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3794760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RestrictedAdmin Mode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94760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with DisableRestrictedAdmin to allow reusable-credential RDP sessions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40396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77556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8060436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Filter DLL Drops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60436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DLLs dropped in System32 to intercept credentials at change-time via LSASS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051560" cy="10515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/home/claude/pptx_build/icon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75529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IN-TRANSIT INTERCEPTION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202996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Relay-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Based Capture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3246120"/>
            <a:ext cx="14630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T1187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T1557.001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T1040
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4720" y="457200"/>
            <a:ext cx="8257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reading credentials at rest, these techniques force or intercept authentication traffic in transit — often the precursor to a relay attack.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74720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794760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NTLM Coercion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rpcping, curl with empty NTLM creds, and printer-spooler coercion forcing NTLM hash disclosure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40396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77556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060436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Relay Toolkits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60436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common relay-attack hacktools used for privilege escalation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0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11880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3794760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mitm6 / ISATAP Abuse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94760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IPv6/ISATAP router configuration enabling DNS takeover and traffic interception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40396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77556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8060436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Sniffing Tools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60436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tshark, windump, and PktMon execution indicating network capture activity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051560" cy="10515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/home/claude/pptx_build/icon_re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75529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PRE-THEFT DISCOVERY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2029968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 for Stored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3246120"/>
            <a:ext cx="14630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T1552.001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T1552.002
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T1552.006
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4720" y="457200"/>
            <a:ext cx="8257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high-volume detections for the reconnaissance commands attackers run to locate credentials before committing to a dumping technique.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74720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794760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Findstr / Reg Searches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grepping for "password", GPP cpassword blobs, and registry-stored third-party creds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40396" y="1508760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77556" y="1645920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060436" y="1600200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Grepping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60436" y="1911096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searches for "eyJ0eX" / "eyJhbG" patterns indicating access-token harvesting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0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11880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3794760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Console History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94760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of ConsoleHost_history.txt, which can leak plaintext passwords typed into prior sessions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40396" y="2843784"/>
            <a:ext cx="399135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877556" y="2980944"/>
            <a:ext cx="91440" cy="896112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8060436" y="2935224"/>
            <a:ext cx="3488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/ PFX Discovery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60436" y="3246120"/>
            <a:ext cx="34884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for certificate and private-key files left insecurely on disk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097280" cy="10972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/home/claude/pptx_build/icon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9034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blue teams operationalizing this ruleset.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80560" y="502920"/>
            <a:ext cx="7223760" cy="12801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4709160" y="82296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532120" y="6675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LSASS &amp; AD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532120" y="103327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carry the highest blast radius — a single successful hit can expose the whole domain.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2011680"/>
            <a:ext cx="7223760" cy="12801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3" name="Shape 10"/>
          <p:cNvSpPr/>
          <p:nvPr/>
        </p:nvSpPr>
        <p:spPr>
          <a:xfrm>
            <a:off x="4709160" y="23317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47091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532120" y="21762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before you trust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532120" y="254203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 of 497 matched rules are still in "test" status. Validate against your own baseline before alerting on-call.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480560" y="3520440"/>
            <a:ext cx="7223760" cy="12801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8" name="Shape 15"/>
          <p:cNvSpPr/>
          <p:nvPr/>
        </p:nvSpPr>
        <p:spPr>
          <a:xfrm>
            <a:off x="4709160" y="384048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532120" y="36850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detections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532120" y="405079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recon-stage rules (cheap, high-volume) with high-confidence dumping/exfil rules for defense in depth.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480560" y="5029200"/>
            <a:ext cx="7223760" cy="12801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23" name="Shape 20"/>
          <p:cNvSpPr/>
          <p:nvPr/>
        </p:nvSpPr>
        <p:spPr>
          <a:xfrm>
            <a:off x="4709160" y="53492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1"/>
          <p:cNvSpPr/>
          <p:nvPr/>
        </p:nvSpPr>
        <p:spPr>
          <a:xfrm>
            <a:off x="4709160" y="5349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532120" y="519379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evasion setup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532120" y="555955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Guard / WDigest tampering often precedes a dumping attempt — treat it as an early warning.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2026-07-12T19:38:40Z</dcterms:created>
  <dcterms:modified xsi:type="dcterms:W3CDTF">2026-07-12T19:38:40Z</dcterms:modified>
</cp:coreProperties>
</file>